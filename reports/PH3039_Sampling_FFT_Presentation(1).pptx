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61ffa48-113c-ca9f-df03-147054fdc3b7}">
          <p14:sldIdLst/>
        </p14:section>
        <p14:section name="Default-1" id="{f951b344-f0b3-5518-9954-ad780c9958de}">
          <p14:sldIdLst>
            <p14:sldId id="256"/>
            <p14:sldId id="257"/>
            <p14:sldId id="258"/>
          </p14:sldIdLst>
        </p14:section>
        <p14:section name="Setup &amp; Methodology" id="{af4a748d-ce25-411b-1ee4-0eb7e52cc8bd}">
          <p14:sldIdLst>
            <p14:sldId id="259"/>
            <p14:sldId id="260"/>
            <p14:sldId id="261"/>
            <p14:sldId id="262"/>
            <p14:sldId id="263"/>
          </p14:sldIdLst>
        </p14:section>
        <p14:section name="Results &amp; Conclusion" id="{d0c83dda-6136-39c0-048e-4fb3278b6648}">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I'll be presenting my lab experiment on sampling, reconstruction, and FFT analysis of a swept sinusoidal signal, carried out for the Data Acquisition Laboratory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was to experimentally verify the Nyquist–Shannon sampling theorem — to prove that sampling at a sufficiently high, constant rate lets us reconstruct a signal without losing information, and without aliasing distorting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Quickly, the theory: the Nyquist rate says we must sample at least twice the highest frequency present. Sample below that and you get aliasing — higher frequencies get mistaken for lower ones, and that error can't be undone afterward. The FFT is how we check, after the fact, whether this held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hardware side: a Seeed XIAO nRF52840 Sense board handled sampling using its built-in 12-bit ADC, and a Keysight EDU33212A waveform generator supplied the swept sine signal, controlled remotely over SCPI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a snubber circuit, we protected the ADC input directly at the source — setting the generator's peak-to-peak voltage to 3.0 volts on a 1.5 volt offset, so the signal never left the safe 0 to 3 volt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precision came from a dedicated hardware timer, NRF_TIMER3, firing every 50 microseconds for a strict 20 kilohertz sample rate. Critically, the compare register was advanced by a fixed amount each time, so there's no drift — unlike using delay() in software, which would introduce jitter.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samples are first collected fully into RAM — up to 50,000 of them — and only sent over USB after the capture is complete. This keeps the slow, unpredictable USB transfer completely separate from the time-critical sampling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host side, a Python script automated the whole sweep — stepping the generator from 10 hertz to 1 kilohertz using SCPI commands, triggering a capture at each step, and logging both the measured and ideal reference voltage to a CSV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reconstructed waveform for the 100 hertz segment — note the graph carries a title, labelled axes, and units throughout. Measured voltage in blue closely tracks the ideal reference in grey. On the right, the full-sweep overview grid shows this same close agreement held across all 100 frequencies from 10 hertz to 1 kilohertz.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FFT of each segment, we see a single sharp peak exactly at the commanded frequency — here, 100 hertz — with nothing showing up near the 10 kilohertz Nyquist frequency. The graph is fully labelled with frequency in hertz and magnitude in decibels. This held true at every point in the sweep, confirming no aliasing occurred.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experiment confirmed the Nyquist–Shannon theorem in practice. A 20 kilohertz sampling rate was more than sufficient for our 10 hertz to 1 kilohertz sweep, and combining hardware-timed firmware with Python-based automation gave us a jitter-free, reliable acquisition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Slide">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Text 1"/>
          <p:cNvSpPr/>
          <p:nvPr>
            <p:ph idx="101" type="title" hasCustomPrompt="1"/>
          </p:nvPr>
        </p:nvSpPr>
        <p:spPr>
          <a:xfrm>
            <a:off x="822960" y="2331720"/>
            <a:ext cx="9875520" cy="173736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1"/>
          <p:cNvSpPr/>
          <p:nvPr>
            <p:ph idx="102" type="body" hasCustomPrompt="1"/>
          </p:nvPr>
        </p:nvSpPr>
        <p:spPr>
          <a:xfrm>
            <a:off x="822960" y="4114800"/>
            <a:ext cx="8686800" cy="548640"/>
          </a:xfrm>
          <a:prstGeom prst="rect">
            <a:avLst/>
          </a:prstGeom>
          <a:noFill/>
          <a:ln/>
        </p:spPr>
        <p:txBody>
          <a:bodyPr wrap="square" rtlCol="0"/>
          <a:lstStyle>
            <a:lvl1pPr algn="l" indent="0" marL="0">
              <a:buNone/>
              <a:defRPr lang="en-US" sz="1800" i="1" dirty="0">
                <a:solidFill>
                  <a:schemeClr val="accent3"/>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5" name="Text 1"/>
          <p:cNvSpPr txBox="1"/>
          <p:nvPr/>
        </p:nvSpPr>
        <p:spPr>
          <a:xfrm>
            <a:off x="822960" y="5989320"/>
            <a:ext cx="7315200" cy="365760"/>
          </a:xfrm>
          <a:prstGeom prst="rect">
            <a:avLst/>
          </a:prstGeom>
          <a:noFill/>
          <a:ln/>
        </p:spPr>
        <p:txBody>
          <a:bodyPr wrap="square" lIns="0" tIns="0" rIns="0" bIns="0" rtlCol="0" anchor="ctr"/>
          <a:lstStyle/>
          <a:p>
            <a:pPr indent="0" marL="0">
              <a:buNone/>
            </a:pPr>
            <a:r>
              <a:rPr lang="en-US" sz="1300" dirty="0">
                <a:solidFill>
                  <a:schemeClr val="bg1">
                    <a:alpha val="75000"/>
                  </a:schemeClr>
                </a:solidFill>
                <a:latin typeface="Calibri" pitchFamily="34" charset="0"/>
                <a:ea typeface="Calibri" pitchFamily="34" charset="-122"/>
                <a:cs typeface="Calibri" pitchFamily="34" charset="-120"/>
              </a:rPr>
              <a:t>PH 3039 – Data Acquisition Laboratory</a:t>
            </a:r>
            <a:endParaRPr lang="en-US" sz="1300" dirty="0"/>
          </a:p>
        </p:txBody>
      </p:sp>
      <p:sp>
        <p:nvSpPr>
          <p:cNvPr id="6" name="Text 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100" dirty="0">
                <a:solidFill>
                  <a:schemeClr val="bg1">
                    <a:alpha val="65000"/>
                  </a:schemeClr>
                </a:solidFill>
                <a:latin typeface="Calibri" pitchFamily="34" charset="0"/>
                <a:ea typeface="Calibri" pitchFamily="34" charset="-122"/>
                <a:cs typeface="Calibri" pitchFamily="34" charset="-120"/>
              </a:rPr>
              <a:t>1</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IconR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881360"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640080" y="1600200"/>
            <a:ext cx="6858000" cy="4389120"/>
          </a:xfrm>
          <a:prstGeom prst="rect">
            <a:avLst/>
          </a:prstGeom>
          <a:noFill/>
          <a:ln/>
        </p:spPr>
        <p:txBody>
          <a:bodyPr wrap="square" rtlCol="0"/>
          <a:lstStyle>
            <a:lvl1pPr algn="l" indent="0" marL="0">
              <a:spcAft>
                <a:spcPts val="1800"/>
              </a:spcAft>
              <a:buNone/>
              <a:defRPr lang="en-US" sz="2000" dirty="0">
                <a:solidFill>
                  <a:schemeClr val="tx1"/>
                </a:solidFill>
                <a:latin typeface="Calibri" pitchFamily="34" charset="0"/>
                <a:ea typeface="Calibri" pitchFamily="34" charset="-122"/>
                <a:cs typeface="Calibri" pitchFamily="34" charset="-120"/>
              </a:defRPr>
            </a:lvl1pPr>
          </a:lstStyle>
          <a:p>
            <a:pPr algn="l" indent="0" marL="0">
              <a:spcAft>
                <a:spcPts val="1800"/>
              </a:spcAft>
              <a:buNone/>
            </a:pPr>
            <a:endParaRPr lang="en-US" sz="2000" dirty="0"/>
          </a:p>
        </p:txBody>
      </p:sp>
      <p:sp>
        <p:nvSpPr>
          <p:cNvPr id="4" name="Text 0"/>
          <p:cNvSpPr txBox="1"/>
          <p:nvPr/>
        </p:nvSpPr>
        <p:spPr>
          <a:xfrm>
            <a:off x="640080" y="6446520"/>
            <a:ext cx="7315200" cy="274320"/>
          </a:xfrm>
          <a:prstGeom prst="rect">
            <a:avLst/>
          </a:prstGeom>
          <a:noFill/>
          <a:ln/>
        </p:spPr>
        <p:txBody>
          <a:bodyPr wrap="square" lIns="0" tIns="0" rIns="0" bIns="0" rtlCol="0" anchor="ctr"/>
          <a:lstStyle/>
          <a:p>
            <a:pPr indent="0" marL="0">
              <a:buNone/>
            </a:pPr>
            <a:r>
              <a:rPr lang="en-US" sz="1050" dirty="0">
                <a:solidFill>
                  <a:schemeClr val="tx1">
                    <a:alpha val="55000"/>
                  </a:schemeClr>
                </a:solidFill>
                <a:latin typeface="Calibri" pitchFamily="34" charset="0"/>
                <a:ea typeface="Calibri" pitchFamily="34" charset="-122"/>
                <a:cs typeface="Calibri" pitchFamily="34" charset="-120"/>
              </a:rPr>
              <a:t>PH 3039 · Sampling, Reconstruction &amp; FFT</a:t>
            </a:r>
            <a:endParaRPr lang="en-US" sz="1050" dirty="0"/>
          </a:p>
        </p:txBody>
      </p:sp>
      <p:sp>
        <p:nvSpPr>
          <p:cNvPr id="5" name="Text 1"/>
          <p:cNvSpPr txBox="1"/>
          <p:nvPr>
            <p:ph idx="103" type="body" hasCustomPrompt="1"/>
          </p:nvPr>
        </p:nvSpPr>
        <p:spPr>
          <a:xfrm>
            <a:off x="11521440" y="6446520"/>
            <a:ext cx="457200" cy="274320"/>
          </a:xfrm>
          <a:prstGeom prst="rect">
            <a:avLst/>
          </a:prstGeom>
          <a:noFill/>
          <a:ln/>
        </p:spPr>
        <p:txBody>
          <a:bodyPr wrap="square" rtlCol="0"/>
          <a:lstStyle>
            <a:lvl1pPr algn="r" indent="0" marL="0">
              <a:buNone/>
              <a:defRPr lang="en-US" sz="1100" dirty="0">
                <a:solidFill>
                  <a:schemeClr val="tx1">
                    <a:alpha val="55000"/>
                  </a:schemeClr>
                </a:solidFill>
                <a:latin typeface="Calibri" pitchFamily="34" charset="0"/>
                <a:ea typeface="Calibri" pitchFamily="34" charset="-122"/>
                <a:cs typeface="Calibri" pitchFamily="34" charset="-120"/>
              </a:defRPr>
            </a:lvl1pPr>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Image">
    <p:bg>
      <p:bgPr>
        <a:solidFill>
          <a:srgbClr val="EAF2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ph idx="101" type="body" hasCustomPrompt="1"/>
          </p:nvPr>
        </p:nvSpPr>
        <p:spPr>
          <a:xfrm>
            <a:off x="640080" y="1280160"/>
            <a:ext cx="10881360" cy="685800"/>
          </a:xfrm>
          <a:prstGeom prst="rect">
            <a:avLst/>
          </a:prstGeom>
          <a:noFill/>
          <a:ln/>
        </p:spPr>
        <p:txBody>
          <a:bodyPr wrap="square" rtlCol="0"/>
          <a:lstStyle>
            <a:lvl1pPr algn="l" indent="0" marL="0">
              <a:buNone/>
              <a:defRPr lang="en-US" sz="1600" dirty="0">
                <a:solidFill>
                  <a:schemeClr val="tx1"/>
                </a:solidFill>
                <a:latin typeface="Calibri" pitchFamily="34" charset="0"/>
                <a:ea typeface="Calibri" pitchFamily="34" charset="-122"/>
                <a:cs typeface="Calibri" pitchFamily="34" charset="-120"/>
              </a:defRPr>
            </a:lvl1pPr>
          </a:lstStyle>
          <a:p>
            <a:pPr algn="l" indent="0" marL="0">
              <a:buNone/>
            </a:pPr>
            <a:endParaRPr lang="en-US" sz="1600" dirty="0"/>
          </a:p>
        </p:txBody>
      </p:sp>
      <p:sp>
        <p:nvSpPr>
          <p:cNvPr id="4" name="Shape 0"/>
          <p:cNvSpPr/>
          <p:nvPr/>
        </p:nvSpPr>
        <p:spPr>
          <a:xfrm>
            <a:off x="0" y="6263640"/>
            <a:ext cx="12188952" cy="594360"/>
          </a:xfrm>
          <a:prstGeom prst="rect">
            <a:avLst/>
          </a:prstGeom>
          <a:solidFill>
            <a:srgbClr val="21295C"/>
          </a:solidFill>
          <a:ln/>
        </p:spPr>
      </p:sp>
      <p:sp>
        <p:nvSpPr>
          <p:cNvPr id="5" name="Text 1"/>
          <p:cNvSpPr txBox="1"/>
          <p:nvPr/>
        </p:nvSpPr>
        <p:spPr>
          <a:xfrm>
            <a:off x="640080" y="6336792"/>
            <a:ext cx="7315200" cy="365760"/>
          </a:xfrm>
          <a:prstGeom prst="rect">
            <a:avLst/>
          </a:prstGeom>
          <a:noFill/>
          <a:ln/>
        </p:spPr>
        <p:txBody>
          <a:bodyPr wrap="square" lIns="0" tIns="0" rIns="0" bIns="0" rtlCol="0" anchor="ctr"/>
          <a:lstStyle/>
          <a:p>
            <a:pPr indent="0" marL="0">
              <a:buNone/>
            </a:pPr>
            <a:r>
              <a:rPr lang="en-US" sz="1050" dirty="0">
                <a:solidFill>
                  <a:schemeClr val="bg1">
                    <a:alpha val="80000"/>
                  </a:schemeClr>
                </a:solidFill>
                <a:latin typeface="Calibri" pitchFamily="34" charset="0"/>
                <a:ea typeface="Calibri" pitchFamily="34" charset="-122"/>
                <a:cs typeface="Calibri" pitchFamily="34" charset="-120"/>
              </a:rPr>
              <a:t>PH 3039 · Sampling, Reconstruction &amp; FFT</a:t>
            </a:r>
            <a:endParaRPr lang="en-US" sz="1050" dirty="0"/>
          </a:p>
        </p:txBody>
      </p:sp>
      <p:sp>
        <p:nvSpPr>
          <p:cNvPr id="25" name="Slide Number Placeholder 0"/>
          <p:cNvSpPr>
            <a:spLocks noGrp="1"/>
          </p:cNvSpPr>
          <p:nvPr>
            <p:ph type="sldNum" sz="quarter" idx="4294967295"/>
          </p:nvPr>
        </p:nvSpPr>
        <p:spPr>
          <a:xfrm>
            <a:off x="1152144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Text 1"/>
          <p:cNvSpPr/>
          <p:nvPr>
            <p:ph idx="101" type="title" hasCustomPrompt="1"/>
          </p:nvPr>
        </p:nvSpPr>
        <p:spPr>
          <a:xfrm>
            <a:off x="1188720" y="2468880"/>
            <a:ext cx="978408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1"/>
          <p:cNvSpPr/>
          <p:nvPr>
            <p:ph idx="102" type="body" hasCustomPrompt="1"/>
          </p:nvPr>
        </p:nvSpPr>
        <p:spPr>
          <a:xfrm>
            <a:off x="1188720" y="3611880"/>
            <a:ext cx="9144000" cy="548640"/>
          </a:xfrm>
          <a:prstGeom prst="rect">
            <a:avLst/>
          </a:prstGeom>
          <a:noFill/>
          <a:ln/>
        </p:spPr>
        <p:txBody>
          <a:bodyPr wrap="square" rtlCol="0"/>
          <a:lstStyle>
            <a:lvl1pPr algn="l" indent="0" marL="0">
              <a:buNone/>
              <a:defRPr lang="en-US" sz="1800" i="1" dirty="0">
                <a:solidFill>
                  <a:schemeClr val="accent3"/>
                </a:solidFill>
                <a:latin typeface="Calibri" pitchFamily="34" charset="0"/>
                <a:ea typeface="Calibri" pitchFamily="34" charset="-122"/>
                <a:cs typeface="Calibri" pitchFamily="34" charset="-120"/>
              </a:defRPr>
            </a:lvl1pPr>
          </a:lstStyle>
          <a:p>
            <a:pPr algn="l" indent="0" marL="0">
              <a:buNone/>
            </a:pPr>
            <a:endParaRPr lang="en-US" sz="1800" dirty="0"/>
          </a:p>
        </p:txBody>
      </p:sp>
      <p:sp>
        <p:nvSpPr>
          <p:cNvPr id="5" name="Text 1"/>
          <p:cNvSpPr txBox="1"/>
          <p:nvPr/>
        </p:nvSpPr>
        <p:spPr>
          <a:xfrm>
            <a:off x="1188720" y="6035040"/>
            <a:ext cx="9144000" cy="365760"/>
          </a:xfrm>
          <a:prstGeom prst="rect">
            <a:avLst/>
          </a:prstGeom>
          <a:noFill/>
          <a:ln/>
        </p:spPr>
        <p:txBody>
          <a:bodyPr wrap="square" lIns="0" tIns="0" rIns="0" bIns="0" rtlCol="0" anchor="ctr"/>
          <a:lstStyle/>
          <a:p>
            <a:pPr indent="0" marL="0">
              <a:buNone/>
            </a:pPr>
            <a:r>
              <a:rPr lang="en-US" sz="1300" dirty="0">
                <a:solidFill>
                  <a:schemeClr val="bg1">
                    <a:alpha val="75000"/>
                  </a:schemeClr>
                </a:solidFill>
                <a:latin typeface="Calibri" pitchFamily="34" charset="0"/>
                <a:ea typeface="Calibri" pitchFamily="34" charset="-122"/>
                <a:cs typeface="Calibri" pitchFamily="34" charset="-120"/>
              </a:rPr>
              <a:t>Kaveesha Induwara (EIT S17229)  ·  Lab Partners: Kenura, Teshan</a:t>
            </a:r>
            <a:endParaRPr lang="en-US" sz="1300" dirty="0"/>
          </a:p>
        </p:txBody>
      </p:sp>
      <p:sp>
        <p:nvSpPr>
          <p:cNvPr id="6" name="Text 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100" dirty="0">
                <a:solidFill>
                  <a:schemeClr val="bg1">
                    <a:alpha val="65000"/>
                  </a:schemeClr>
                </a:solidFill>
                <a:latin typeface="Calibri" pitchFamily="34" charset="0"/>
                <a:ea typeface="Calibri" pitchFamily="34" charset="-122"/>
                <a:cs typeface="Calibri" pitchFamily="34" charset="-120"/>
              </a:rPr>
              <a:t>12</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235440" y="4206240"/>
            <a:ext cx="4754880" cy="4754880"/>
          </a:xfrm>
          <a:prstGeom prst="ellipse">
            <a:avLst/>
          </a:prstGeom>
          <a:solidFill>
            <a:srgbClr val="065A82">
              <a:alpha val="30000"/>
            </a:srgbClr>
          </a:solidFill>
          <a:ln/>
        </p:spPr>
      </p:sp>
      <p:sp>
        <p:nvSpPr>
          <p:cNvPr id="3" name="Shape 1"/>
          <p:cNvSpPr/>
          <p:nvPr/>
        </p:nvSpPr>
        <p:spPr>
          <a:xfrm>
            <a:off x="10332720" y="5303520"/>
            <a:ext cx="2377440" cy="2377440"/>
          </a:xfrm>
          <a:prstGeom prst="ellipse">
            <a:avLst/>
          </a:prstGeom>
          <a:solidFill>
            <a:srgbClr val="F96167">
              <a:alpha val="45000"/>
            </a:srgbClr>
          </a:solidFill>
          <a:ln/>
        </p:spPr>
      </p:sp>
      <p:sp>
        <p:nvSpPr>
          <p:cNvPr id="4" name="Text 1"/>
          <p:cNvSpPr/>
          <p:nvPr>
            <p:ph idx="101" type="title" hasCustomPrompt="1"/>
          </p:nvPr>
        </p:nvSpPr>
        <p:spPr>
          <a:xfrm>
            <a:off x="822960" y="2331720"/>
            <a:ext cx="9875520" cy="173736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Sampling, Reconstruction, and</a:t>
            </a:r>
            <a:endParaRPr lang="en-US" sz="4000" dirty="0"/>
          </a:p>
          <a:p>
            <a:pPr algn="l" indent="0" marL="0">
              <a:buNone/>
            </a:pPr>
            <a:r>
              <a:rPr lang="en-US" sz="4000" b="1" dirty="0">
                <a:solidFill>
                  <a:schemeClr val="bg1"/>
                </a:solidFill>
                <a:latin typeface="Cambria" pitchFamily="34" charset="0"/>
                <a:ea typeface="Cambria" pitchFamily="34" charset="-122"/>
                <a:cs typeface="Cambria" pitchFamily="34" charset="-120"/>
              </a:rPr>
              <a:t>FFT Analysis of a Swept Sinusoidal Signal</a:t>
            </a:r>
            <a:endParaRPr lang="en-US" sz="4000" dirty="0"/>
          </a:p>
        </p:txBody>
      </p:sp>
      <p:sp>
        <p:nvSpPr>
          <p:cNvPr id="5" name="Text 1"/>
          <p:cNvSpPr/>
          <p:nvPr>
            <p:ph idx="102" type="body" hasCustomPrompt="1"/>
          </p:nvPr>
        </p:nvSpPr>
        <p:spPr>
          <a:xfrm>
            <a:off x="822960" y="4114800"/>
            <a:ext cx="8686800" cy="548640"/>
          </a:xfrm>
          <a:prstGeom prst="rect">
            <a:avLst/>
          </a:prstGeom>
          <a:noFill/>
          <a:ln/>
        </p:spPr>
        <p:txBody>
          <a:bodyPr wrap="square" rtlCol="0"/>
          <a:lstStyle/>
          <a:p>
            <a:pPr algn="l" indent="0" marL="0">
              <a:buNone/>
            </a:pPr>
            <a:r>
              <a:rPr lang="en-US" sz="1800" i="1" dirty="0">
                <a:solidFill>
                  <a:schemeClr val="accent3"/>
                </a:solidFill>
                <a:latin typeface="Calibri" pitchFamily="34" charset="0"/>
                <a:ea typeface="Calibri" pitchFamily="34" charset="-122"/>
                <a:cs typeface="Calibri" pitchFamily="34" charset="-120"/>
              </a:rPr>
              <a:t>Kaveesha Induwara (EIT S17229)  ·  Lab Partners: Kenura, Teshan</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Objective</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Verify Nyquist–Shannon sampling theorem</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Confirm no aliasing occurs</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Sweep signal 10 Hz to 1 kHz</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Sample at constant 20 kHz</a:t>
            </a:r>
            <a:endParaRPr lang="en-US" sz="2000" dirty="0"/>
          </a:p>
        </p:txBody>
      </p:sp>
      <p:pic>
        <p:nvPicPr>
          <p:cNvPr id="5" name="Image 0" descr="assets/icon_target.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Theoretical Background</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Nyquist rate: fs ≥ 2 × fmax</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Aliasing = irreversible fold-back</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FFT reveals frequency content</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Jitter-free sampling essential</a:t>
            </a:r>
            <a:endParaRPr lang="en-US" sz="2000" dirty="0"/>
          </a:p>
        </p:txBody>
      </p:sp>
      <p:pic>
        <p:nvPicPr>
          <p:cNvPr id="5" name="Image 0" descr="assets/icon_activity.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Hardware Setup</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Seeed XIAO nRF52840 Sense</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12-bit onboard ADC (SAADC)</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Keysight EDU33212A generator</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SCPI control over USB</a:t>
            </a:r>
            <a:endParaRPr lang="en-US" sz="2000" dirty="0"/>
          </a:p>
        </p:txBody>
      </p:sp>
      <p:pic>
        <p:nvPicPr>
          <p:cNvPr id="5" name="Image 0" descr="assets/icon_cpu.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Circuit Protection</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No snubber circuit used</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Vpp = 3.0 V</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Voff = 1.5 V</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Swing kept 0.0–3.0 V</a:t>
            </a:r>
            <a:endParaRPr lang="en-US" sz="2000" dirty="0"/>
          </a:p>
        </p:txBody>
      </p:sp>
      <p:pic>
        <p:nvPicPr>
          <p:cNvPr id="5" name="Image 0" descr="assets/icon_shield.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Methodology: Hardware Timer</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NRF_TIMER3 drives sampling</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Fixed rate: 20 kHz</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Absolute timing, zero drift</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No software delay() used</a:t>
            </a:r>
            <a:endParaRPr lang="en-US" sz="2000" dirty="0"/>
          </a:p>
        </p:txBody>
      </p:sp>
      <p:pic>
        <p:nvPicPr>
          <p:cNvPr id="5" name="Image 0" descr="assets/icon_clock.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Methodology: RAM Buffering</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Capture-then-transfer design</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Buffer up to 50,000 samples</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No USB during capture</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Eliminates transfer jitter</a:t>
            </a:r>
            <a:endParaRPr lang="en-US" sz="2000" dirty="0"/>
          </a:p>
        </p:txBody>
      </p:sp>
      <p:pic>
        <p:nvPicPr>
          <p:cNvPr id="5" name="Image 0" descr="assets/icon_database.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Methodology: Python Automation</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PyVISA controls generator</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SCPI sweeps 10 Hz–1 kHz</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Auto-triggers each capture</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Logs data to CSV</a:t>
            </a:r>
            <a:endParaRPr lang="en-US" sz="2000" dirty="0"/>
          </a:p>
        </p:txBody>
      </p:sp>
      <p:pic>
        <p:nvPicPr>
          <p:cNvPr id="5" name="Image 0" descr="assets/icon_terminal.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Results: Time-Domain Reconstruction</a:t>
            </a:r>
            <a:endParaRPr lang="en-US" sz="3200" dirty="0"/>
          </a:p>
        </p:txBody>
      </p:sp>
      <p:sp>
        <p:nvSpPr>
          <p:cNvPr id="3" name="Text 0"/>
          <p:cNvSpPr/>
          <p:nvPr>
            <p:ph idx="101" type="body" hasCustomPrompt="1"/>
          </p:nvPr>
        </p:nvSpPr>
        <p:spPr>
          <a:xfrm>
            <a:off x="640080" y="1280160"/>
            <a:ext cx="10881360" cy="685800"/>
          </a:xfrm>
          <a:prstGeom prst="rect">
            <a:avLst/>
          </a:prstGeom>
          <a:noFill/>
          <a:ln/>
        </p:spPr>
        <p:txBody>
          <a:bodyPr wrap="square" rtlCol="0" anchor="t"/>
          <a:lstStyle/>
          <a:p>
            <a:pPr algn="l"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Measured vs ideal overlay</a:t>
            </a:r>
            <a:endParaRPr lang="en-US" sz="1600" dirty="0"/>
          </a:p>
          <a:p>
            <a:pPr algn="l"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Close match across full sweep</a:t>
            </a:r>
            <a:endParaRPr lang="en-US" sz="1600" dirty="0"/>
          </a:p>
        </p:txBody>
      </p:sp>
      <p:pic>
        <p:nvPicPr>
          <p:cNvPr id="4" name="Image 0" descr="assets/fig_timedomain.png">    </p:cNvPr>
          <p:cNvPicPr>
            <a:picLocks noChangeAspect="1"/>
          </p:cNvPicPr>
          <p:nvPr/>
        </p:nvPicPr>
        <p:blipFill>
          <a:blip r:embed="rId1"/>
          <a:stretch>
            <a:fillRect/>
          </a:stretch>
        </p:blipFill>
        <p:spPr>
          <a:xfrm>
            <a:off x="822960" y="2148840"/>
            <a:ext cx="5852160" cy="3904488"/>
          </a:xfrm>
          <a:prstGeom prst="rect">
            <a:avLst/>
          </a:prstGeom>
        </p:spPr>
      </p:pic>
      <p:pic>
        <p:nvPicPr>
          <p:cNvPr id="5" name="Image 1" descr="assets/fig_grid_small.png">    </p:cNvPr>
          <p:cNvPicPr>
            <a:picLocks noChangeAspect="1"/>
          </p:cNvPicPr>
          <p:nvPr/>
        </p:nvPicPr>
        <p:blipFill>
          <a:blip r:embed="rId2"/>
          <a:stretch>
            <a:fillRect/>
          </a:stretch>
        </p:blipFill>
        <p:spPr>
          <a:xfrm>
            <a:off x="6949440" y="2148840"/>
            <a:ext cx="4480560" cy="3319272"/>
          </a:xfrm>
          <a:prstGeom prst="rect">
            <a:avLst/>
          </a:prstGeom>
        </p:spPr>
      </p:pic>
      <p:sp>
        <p:nvSpPr>
          <p:cNvPr id="6" name="Text 2"/>
          <p:cNvSpPr txBox="1"/>
          <p:nvPr/>
        </p:nvSpPr>
        <p:spPr>
          <a:xfrm>
            <a:off x="6949440" y="5513832"/>
            <a:ext cx="4480560" cy="457200"/>
          </a:xfrm>
          <a:prstGeom prst="rect">
            <a:avLst/>
          </a:prstGeom>
          <a:noFill/>
          <a:ln/>
        </p:spPr>
        <p:txBody>
          <a:bodyPr wrap="square" lIns="0" tIns="0" rIns="0" bIns="0" rtlCol="0" anchor="ctr"/>
          <a:lstStyle/>
          <a:p>
            <a:pPr algn="ctr" indent="0" marL="0">
              <a:buNone/>
            </a:pPr>
            <a:r>
              <a:rPr lang="en-US" sz="1100" i="1" dirty="0">
                <a:solidFill>
                  <a:schemeClr val="tx1">
                    <a:alpha val="75000"/>
                  </a:schemeClr>
                </a:solidFill>
                <a:latin typeface="Calibri" pitchFamily="34" charset="0"/>
                <a:ea typeface="Calibri" pitchFamily="34" charset="-122"/>
                <a:cs typeface="Calibri" pitchFamily="34" charset="-120"/>
              </a:rPr>
              <a:t>Full 10 Hz–1 kHz sweep overview — measured (blue) vs ideal (grey)</a:t>
            </a:r>
            <a:endParaRPr lang="en-US" sz="1100" dirty="0"/>
          </a:p>
        </p:txBody>
      </p:sp>
      <p:sp>
        <p:nvSpPr>
          <p:cNvPr id="25" name="Slide Number Placeholder 0"/>
          <p:cNvSpPr>
            <a:spLocks noGrp="1"/>
          </p:cNvSpPr>
          <p:nvPr>
            <p:ph type="sldNum" sz="quarter" idx="4294967295"/>
          </p:nvPr>
        </p:nvSpPr>
        <p:spPr>
          <a:xfrm>
            <a:off x="1152144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82296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Results: FFT Verification</a:t>
            </a:r>
            <a:endParaRPr lang="en-US" sz="3200" dirty="0"/>
          </a:p>
        </p:txBody>
      </p:sp>
      <p:sp>
        <p:nvSpPr>
          <p:cNvPr id="3" name="Text 0"/>
          <p:cNvSpPr/>
          <p:nvPr>
            <p:ph idx="101" type="body" hasCustomPrompt="1"/>
          </p:nvPr>
        </p:nvSpPr>
        <p:spPr>
          <a:xfrm>
            <a:off x="640080" y="1280160"/>
            <a:ext cx="10881360" cy="685800"/>
          </a:xfrm>
          <a:prstGeom prst="rect">
            <a:avLst/>
          </a:prstGeom>
          <a:noFill/>
          <a:ln/>
        </p:spPr>
        <p:txBody>
          <a:bodyPr wrap="square" rtlCol="0" anchor="t"/>
          <a:lstStyle/>
          <a:p>
            <a:pPr algn="l"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Single peak per frequency</a:t>
            </a:r>
            <a:endParaRPr lang="en-US" sz="1600" dirty="0"/>
          </a:p>
          <a:p>
            <a:pPr algn="l" marL="342900" indent="-3429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No energy near Nyquist — no aliasing</a:t>
            </a:r>
            <a:endParaRPr lang="en-US" sz="1600" dirty="0"/>
          </a:p>
        </p:txBody>
      </p:sp>
      <p:pic>
        <p:nvPicPr>
          <p:cNvPr id="4" name="Image 0" descr="assets/fig_fft.png">    </p:cNvPr>
          <p:cNvPicPr>
            <a:picLocks noChangeAspect="1"/>
          </p:cNvPicPr>
          <p:nvPr/>
        </p:nvPicPr>
        <p:blipFill>
          <a:blip r:embed="rId1"/>
          <a:stretch>
            <a:fillRect/>
          </a:stretch>
        </p:blipFill>
        <p:spPr>
          <a:xfrm>
            <a:off x="2788920" y="2103120"/>
            <a:ext cx="6583680" cy="4041648"/>
          </a:xfrm>
          <a:prstGeom prst="rect">
            <a:avLst/>
          </a:prstGeom>
        </p:spPr>
      </p:pic>
      <p:sp>
        <p:nvSpPr>
          <p:cNvPr id="25" name="Slide Number Placeholder 0"/>
          <p:cNvSpPr>
            <a:spLocks noGrp="1"/>
          </p:cNvSpPr>
          <p:nvPr>
            <p:ph type="sldNum" sz="quarter" idx="4294967295"/>
          </p:nvPr>
        </p:nvSpPr>
        <p:spPr>
          <a:xfrm>
            <a:off x="11521440" y="6382512"/>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321040" y="2103120"/>
            <a:ext cx="2834640" cy="2834640"/>
          </a:xfrm>
          <a:prstGeom prst="ellipse">
            <a:avLst/>
          </a:prstGeom>
          <a:solidFill>
            <a:srgbClr val="065A82"/>
          </a:solidFill>
          <a:ln/>
          <a:effectLst>
            <a:outerShdw sx="100000" sy="100000" kx="0" ky="0" algn="bl" rotWithShape="0" blurRad="127000" dist="50800" dir="5400000">
              <a:srgbClr val="1A1A2E">
                <a:alpha val="25000"/>
              </a:srgbClr>
            </a:outerShdw>
          </a:effectLst>
        </p:spPr>
      </p:sp>
      <p:sp>
        <p:nvSpPr>
          <p:cNvPr id="3" name="Text 0"/>
          <p:cNvSpPr/>
          <p:nvPr>
            <p:ph idx="100" type="title" hasCustomPrompt="1"/>
          </p:nvPr>
        </p:nvSpPr>
        <p:spPr>
          <a:xfrm>
            <a:off x="640080" y="457200"/>
            <a:ext cx="10881360" cy="868680"/>
          </a:xfrm>
          <a:prstGeom prst="rect">
            <a:avLst/>
          </a:prstGeom>
          <a:noFill/>
          <a:ln/>
        </p:spPr>
        <p:txBody>
          <a:bodyPr wrap="square"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Conclusion</a:t>
            </a:r>
            <a:endParaRPr lang="en-US" sz="3200" dirty="0"/>
          </a:p>
        </p:txBody>
      </p:sp>
      <p:sp>
        <p:nvSpPr>
          <p:cNvPr id="4" name="Text 0"/>
          <p:cNvSpPr/>
          <p:nvPr>
            <p:ph idx="101" type="body" hasCustomPrompt="1"/>
          </p:nvPr>
        </p:nvSpPr>
        <p:spPr>
          <a:xfrm>
            <a:off x="640080" y="1600200"/>
            <a:ext cx="6858000" cy="4389120"/>
          </a:xfrm>
          <a:prstGeom prst="rect">
            <a:avLst/>
          </a:prstGeom>
          <a:noFill/>
          <a:ln/>
        </p:spPr>
        <p:txBody>
          <a:bodyPr wrap="square" rtlCol="0" anchor="t"/>
          <a:lstStyle/>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Nyquist theorem confirmed</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20 kHz sufficient for 1 kHz</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Hardware timing removed jitter</a:t>
            </a:r>
            <a:endParaRPr lang="en-US" sz="2000" dirty="0"/>
          </a:p>
          <a:p>
            <a:pPr algn="l" marL="342900" indent="-342900">
              <a:spcAft>
                <a:spcPts val="1800"/>
              </a:spcAft>
              <a:buSzPct val="100000"/>
              <a:buChar char="▪"/>
            </a:pPr>
            <a:r>
              <a:rPr lang="en-US" sz="2000" dirty="0">
                <a:solidFill>
                  <a:schemeClr val="tx1"/>
                </a:solidFill>
                <a:latin typeface="Calibri" pitchFamily="34" charset="0"/>
                <a:ea typeface="Calibri" pitchFamily="34" charset="-122"/>
                <a:cs typeface="Calibri" pitchFamily="34" charset="-120"/>
              </a:rPr>
              <a:t>C++ and Python integration successful</a:t>
            </a:r>
            <a:endParaRPr lang="en-US" sz="2000" dirty="0"/>
          </a:p>
        </p:txBody>
      </p:sp>
      <p:pic>
        <p:nvPicPr>
          <p:cNvPr id="5" name="Image 0" descr="assets/icon_check.png">    </p:cNvPr>
          <p:cNvPicPr>
            <a:picLocks noChangeAspect="1"/>
          </p:cNvPicPr>
          <p:nvPr/>
        </p:nvPicPr>
        <p:blipFill>
          <a:blip r:embed="rId1"/>
          <a:stretch>
            <a:fillRect/>
          </a:stretch>
        </p:blipFill>
        <p:spPr>
          <a:xfrm>
            <a:off x="8915400" y="2697480"/>
            <a:ext cx="1645920" cy="1645920"/>
          </a:xfrm>
          <a:prstGeom prst="rect">
            <a:avLst/>
          </a:prstGeom>
        </p:spPr>
      </p:pic>
      <p:sp>
        <p:nvSpPr>
          <p:cNvPr id="7" name="Text 1"/>
          <p:cNvSpPr txBox="1"/>
          <p:nvPr>
            <p:ph idx="103" type="body" hasCustomPrompt="1"/>
          </p:nvPr>
        </p:nvSpPr>
        <p:spPr>
          <a:xfrm>
            <a:off x="11521440" y="6446520"/>
            <a:ext cx="457200" cy="274320"/>
          </a:xfrm>
          <a:prstGeom prst="rect">
            <a:avLst/>
          </a:prstGeom>
          <a:noFill/>
          <a:ln/>
        </p:spPr>
        <p:txBody>
          <a:bodyPr wrap="square" lIns="0" tIns="0" rIns="0" bIns="0" rtlCol="0"/>
          <a:lstStyle/>
          <a:p>
            <a:pPr algn="r" indent="0" marL="0">
              <a:buNone/>
            </a:pPr>
            <a:endParaRPr lang="en-US" sz="1100" dirty="0"/>
          </a:p>
        </p:txBody>
      </p:sp>
      <p:sp>
        <p:nvSpPr>
          <p:cNvPr id="25" name="Slide Number Placeholder 0"/>
          <p:cNvSpPr>
            <a:spLocks noGrp="1"/>
          </p:cNvSpPr>
          <p:nvPr>
            <p:ph type="sldNum" sz="quarter" idx="4294967295"/>
          </p:nvPr>
        </p:nvSpPr>
        <p:spPr>
          <a:xfrm>
            <a:off x="11521440" y="644652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1A1A2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2194560" y="-1828800"/>
            <a:ext cx="5120640" cy="5120640"/>
          </a:xfrm>
          <a:prstGeom prst="ellipse">
            <a:avLst/>
          </a:prstGeom>
          <a:solidFill>
            <a:srgbClr val="065A82">
              <a:alpha val="35000"/>
            </a:srgbClr>
          </a:solidFill>
          <a:ln/>
        </p:spPr>
      </p:sp>
      <p:sp>
        <p:nvSpPr>
          <p:cNvPr id="3" name="Shape 1"/>
          <p:cNvSpPr/>
          <p:nvPr/>
        </p:nvSpPr>
        <p:spPr>
          <a:xfrm>
            <a:off x="-1097280" y="-731520"/>
            <a:ext cx="2377440" cy="2377440"/>
          </a:xfrm>
          <a:prstGeom prst="ellipse">
            <a:avLst/>
          </a:prstGeom>
          <a:solidFill>
            <a:srgbClr val="F96167">
              <a:alpha val="50000"/>
            </a:srgbClr>
          </a:solidFill>
          <a:ln/>
        </p:spPr>
      </p:sp>
      <p:sp>
        <p:nvSpPr>
          <p:cNvPr id="4" name="Text 1"/>
          <p:cNvSpPr/>
          <p:nvPr>
            <p:ph idx="101" type="title" hasCustomPrompt="1"/>
          </p:nvPr>
        </p:nvSpPr>
        <p:spPr>
          <a:xfrm>
            <a:off x="1188720" y="2468880"/>
            <a:ext cx="9784080" cy="1188720"/>
          </a:xfrm>
          <a:prstGeom prst="rect">
            <a:avLst/>
          </a:prstGeom>
          <a:noFill/>
          <a:ln/>
        </p:spPr>
        <p:txBody>
          <a:bodyPr wrap="square" rtlCol="0" anchor="ctr"/>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5" name="Text 1"/>
          <p:cNvSpPr/>
          <p:nvPr>
            <p:ph idx="102" type="body" hasCustomPrompt="1"/>
          </p:nvPr>
        </p:nvSpPr>
        <p:spPr>
          <a:xfrm>
            <a:off x="1188720" y="3611880"/>
            <a:ext cx="9144000" cy="548640"/>
          </a:xfrm>
          <a:prstGeom prst="rect">
            <a:avLst/>
          </a:prstGeom>
          <a:noFill/>
          <a:ln/>
        </p:spPr>
        <p:txBody>
          <a:bodyPr wrap="square" rtlCol="0"/>
          <a:lstStyle/>
          <a:p>
            <a:pPr algn="l" indent="0" marL="0">
              <a:buNone/>
            </a:pPr>
            <a:r>
              <a:rPr lang="en-US" sz="1800" i="1" dirty="0">
                <a:solidFill>
                  <a:schemeClr val="accent3"/>
                </a:solidFill>
                <a:latin typeface="Calibri" pitchFamily="34" charset="0"/>
                <a:ea typeface="Calibri" pitchFamily="34" charset="-122"/>
                <a:cs typeface="Calibri" pitchFamily="34" charset="-120"/>
              </a:rPr>
              <a:t>Questions welcome</a:t>
            </a:r>
            <a:endParaRPr lang="en-US" sz="1800" dirty="0"/>
          </a:p>
        </p:txBody>
      </p:sp>
    </p:spTree>
  </p:cSld>
  <p:clrMapOvr>
    <a:masterClrMapping/>
  </p:clrMapOvr>
</p:sld>
</file>

<file path=ppt/theme/theme1.xml><?xml version="1.0" encoding="utf-8"?>
<a:theme xmlns:a="http://schemas.openxmlformats.org/drawingml/2006/main" name="Signal Current">
  <a:themeElements>
    <a:clrScheme name="Signal Current">
      <a:dk1>
        <a:srgbClr val="1A1A2E"/>
      </a:dk1>
      <a:lt1>
        <a:srgbClr val="FFFFFF"/>
      </a:lt1>
      <a:dk2>
        <a:srgbClr val="21295C"/>
      </a:dk2>
      <a:lt2>
        <a:srgbClr val="EAF2F7"/>
      </a:lt2>
      <a:accent1>
        <a:srgbClr val="065A82"/>
      </a:accent1>
      <a:accent2>
        <a:srgbClr val="1C7293"/>
      </a:accent2>
      <a:accent3>
        <a:srgbClr val="F96167"/>
      </a:accent3>
      <a:accent4>
        <a:srgbClr val="97BC62"/>
      </a:accent4>
      <a:accent5>
        <a:srgbClr val="F2A541"/>
      </a:accent5>
      <a:accent6>
        <a:srgbClr val="6D2E46"/>
      </a:accent6>
      <a:hlink>
        <a:srgbClr val="1C7293"/>
      </a:hlink>
      <a:folHlink>
        <a:srgbClr val="21295C"/>
      </a:folHlink>
    </a:clrScheme>
    <a:fontScheme name="Signal Curr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2026-10-19T06:09:06Z</dcterms:created>
  <dcterms:modified xsi:type="dcterms:W3CDTF">2026-10-19T06:09:06Z</dcterms:modified>
</cp:coreProperties>
</file>